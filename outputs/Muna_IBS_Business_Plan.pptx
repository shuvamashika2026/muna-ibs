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ARR at $2/month</c:v>
          </c:tx>
          <c:spPr>
            <a:solidFill>
              <a:srgbClr val="0F76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25k</c:v>
              </c:pt>
              <c:pt idx="1">
                <c:v>100k</c:v>
              </c:pt>
              <c:pt idx="2">
                <c:v>1M</c:v>
              </c:pt>
              <c:pt idx="3">
                <c:v>5M</c:v>
              </c:pt>
            </c:strLit>
          </c:cat>
          <c:val>
            <c:numLit>
              <c:formatCode>General</c:formatCode>
              <c:ptCount val="4"/>
              <c:pt idx="0">
                <c:v>0.6</c:v>
              </c:pt>
              <c:pt idx="1">
                <c:v>2.4</c:v>
              </c:pt>
              <c:pt idx="2">
                <c:v>24</c:v>
              </c:pt>
              <c:pt idx="3">
                <c:v>120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BA-49C2-98F5-111B22ED242E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C7C7C7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/>
                  <a:t>USD millions ARR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AB9596-464C-47E5-8190-D5A0B67CA2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5378" r="25378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100B33-FA6E-405E-BD80-9FDDF3C1235D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Muna IBS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47BD1E-348F-4479-8127-71B295C63646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4857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A low-cost daily companion for people managing irritable bowel syndrome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A4ED7-077B-42E1-87DB-ACE17E41FD9D}"/>
              </a:ext>
            </a:extLst>
          </p:cNvPr>
          <p:cNvSpPr>
            <a:spLocks noGrp="1"/>
          </p:cNvSpPr>
          <p:nvPr/>
        </p:nvSpPr>
        <p:spPr>
          <a:xfrm>
            <a:off x="552450" y="39052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Business plan and fundraising deck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A31D23-4334-4F11-954A-09965FC8EACD}"/>
              </a:ext>
            </a:extLst>
          </p:cNvPr>
          <p:cNvSpPr>
            <a:spLocks noGrp="1"/>
          </p:cNvSpPr>
          <p:nvPr/>
        </p:nvSpPr>
        <p:spPr>
          <a:xfrm>
            <a:off x="552450" y="501015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Founder and shareholder: Shuvam Subedi</a:t>
            </a:r>
          </a:p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Pre-launch | Bootstrapped</a:t>
            </a:r>
          </a:p>
        </p:txBody>
      </p:sp>
    </p:spTree>
    <p:extLst>
      <p:ext uri="{BB962C8B-B14F-4D97-AF65-F5344CB8AC3E}">
        <p14:creationId xmlns:p14="http://schemas.microsoft.com/office/powerpoint/2010/main" val="156478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2C7CB5E-8148-4F86-8682-4EC3665B483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A442F3-A52A-41E8-A614-54D3FCD9AE17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IBS is common, recurring, and managed mostly alone between appointments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9F505CC-889F-41F8-8F3B-9D426676FFC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A727F-24BF-46C2-8273-F5DE797E3740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F10A1-57BD-4DDE-88BA-F4113A817D57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A3761-A597-4A2C-BBA5-66541696E55C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Symptoms are personal and variable: pain, bloating, bowel changes, fatigue, anxiety, and food uncertainty.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A278D-7D6A-4E3E-A262-70B41D269B7D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A799C7-631D-4C9F-A296-62C12D09ED2E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Patients often rely on scattered notes, generic diet lists, and trial-and-error decisions.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99D67A-A81B-4E36-846C-07B469E62D1E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FD89E-4032-485D-B48D-8A39A7B117BF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Clinical care is episodic, while IBS decisions happen several times every day.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AE93BA-30E8-4943-92D2-737E781091D4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27F2D4-F105-4CCC-A86A-5D8C27934C6B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emotional burden is high because patients must plan food, travel, work, and social life around flare risk.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686D05-7F08-4AC1-BCAC-A251CE650272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838450" cy="211455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E42EF3-2AA4-4B31-90DA-1EDFDAE1F618}"/>
              </a:ext>
            </a:extLst>
          </p:cNvPr>
          <p:cNvSpPr>
            <a:spLocks noGrp="1"/>
          </p:cNvSpPr>
          <p:nvPr/>
        </p:nvSpPr>
        <p:spPr>
          <a:xfrm>
            <a:off x="8801100" y="24574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0F766E"/>
                </a:solidFill>
              </a:defRPr>
            </a:pPr>
            <a:r>
              <a:rPr sz="3750" b="1">
                <a:solidFill>
                  <a:srgbClr val="0F766E"/>
                </a:solidFill>
              </a:rPr>
              <a:t>5-10%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79A3FB-4779-41BA-97C9-D3D78BE91C15}"/>
              </a:ext>
            </a:extLst>
          </p:cNvPr>
          <p:cNvSpPr>
            <a:spLocks noGrp="1"/>
          </p:cNvSpPr>
          <p:nvPr/>
        </p:nvSpPr>
        <p:spPr>
          <a:xfrm>
            <a:off x="8801100" y="3219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Global prevalence signal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5DB4C0-3F81-45E8-973F-F979CAFAC47E}"/>
              </a:ext>
            </a:extLst>
          </p:cNvPr>
          <p:cNvSpPr>
            <a:spLocks noGrp="1"/>
          </p:cNvSpPr>
          <p:nvPr/>
        </p:nvSpPr>
        <p:spPr>
          <a:xfrm>
            <a:off x="8801100" y="3619500"/>
            <a:ext cx="238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Current patient-education estimates; older pooled studies report higher rates around 11%.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BDC44B-C8D0-4934-8A03-10FAC6139B20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2838450" cy="146685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129A0D-C850-4CD3-9085-A526129A6A11}"/>
              </a:ext>
            </a:extLst>
          </p:cNvPr>
          <p:cNvSpPr>
            <a:spLocks noGrp="1"/>
          </p:cNvSpPr>
          <p:nvPr/>
        </p:nvSpPr>
        <p:spPr>
          <a:xfrm>
            <a:off x="8801100" y="47815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F06543"/>
                </a:solidFill>
              </a:defRPr>
            </a:pPr>
            <a:r>
              <a:rPr sz="3750" b="1">
                <a:solidFill>
                  <a:srgbClr val="F06543"/>
                </a:solidFill>
              </a:rPr>
              <a:t>10-15%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2CE85B-2F8C-4C58-8D41-9C979B17381A}"/>
              </a:ext>
            </a:extLst>
          </p:cNvPr>
          <p:cNvSpPr>
            <a:spLocks noGrp="1"/>
          </p:cNvSpPr>
          <p:nvPr/>
        </p:nvSpPr>
        <p:spPr>
          <a:xfrm>
            <a:off x="8801100" y="55435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US adults affected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188821-E256-4D80-B183-5A473148AEDF}"/>
              </a:ext>
            </a:extLst>
          </p:cNvPr>
          <p:cNvSpPr>
            <a:spLocks noGrp="1"/>
          </p:cNvSpPr>
          <p:nvPr/>
        </p:nvSpPr>
        <p:spPr>
          <a:xfrm>
            <a:off x="8801100" y="5943600"/>
            <a:ext cx="238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 commonly cited US adult range, with many people undiagnosed.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0A1E11-E353-42D8-9D1D-2A9812900421}"/>
              </a:ext>
            </a:extLst>
          </p:cNvPr>
          <p:cNvSpPr>
            <a:spLocks noGrp="1"/>
          </p:cNvSpPr>
          <p:nvPr/>
        </p:nvSpPr>
        <p:spPr>
          <a:xfrm>
            <a:off x="400050" y="625792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55555"/>
                </a:solidFill>
              </a:defRPr>
            </a:pPr>
            <a:r>
              <a:rPr sz="788" b="0">
                <a:solidFill>
                  <a:srgbClr val="555555"/>
                </a:solidFill>
              </a:rPr>
              <a:t>Sources: AboutIBS/IFFGD; NIH/PMC epidemiology review; Verywell Health patient statistics.</a:t>
            </a:r>
          </a:p>
        </p:txBody>
      </p:sp>
    </p:spTree>
    <p:extLst>
      <p:ext uri="{BB962C8B-B14F-4D97-AF65-F5344CB8AC3E}">
        <p14:creationId xmlns:p14="http://schemas.microsoft.com/office/powerpoint/2010/main" val="125647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42E561B-14FA-4AF3-BC1E-5F9C2D607E6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AADF7-3F51-4CF5-8F83-6B7BFDA833F0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Muna IBS turns lived experience into a practical symptom-management system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43496EB-04E8-478A-AE57-AF6972B50E4F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E24E4-0147-4E13-B1F9-7005C25A00E8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E82E1-CCC5-4B30-9DE5-282F6EB9390F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381250" cy="295275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C2031-555D-489D-92A8-811DD7A9BA99}"/>
              </a:ext>
            </a:extLst>
          </p:cNvPr>
          <p:cNvSpPr>
            <a:spLocks noGrp="1"/>
          </p:cNvSpPr>
          <p:nvPr/>
        </p:nvSpPr>
        <p:spPr>
          <a:xfrm>
            <a:off x="590550" y="24193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2A1A4-1F0B-427D-B8CC-3C074B164401}"/>
              </a:ext>
            </a:extLst>
          </p:cNvPr>
          <p:cNvSpPr>
            <a:spLocks noGrp="1"/>
          </p:cNvSpPr>
          <p:nvPr/>
        </p:nvSpPr>
        <p:spPr>
          <a:xfrm>
            <a:off x="590550" y="293370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6B1C8-E418-4B7C-BE53-448E35D62796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924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Fast logging for symptoms, stool, meals, stress, sleep, medication, and triggers.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2B1055-05B2-4FB2-9B41-232A3D0A9105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2381250" cy="2952750"/>
          </a:xfrm>
          <a:prstGeom prst="rect">
            <a:avLst/>
          </a:prstGeom>
          <a:solidFill>
            <a:srgbClr val="F7F4ED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A186C-0F6F-491C-A0F0-408C04122114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93AA3-27E5-4957-9562-E1AB2581861E}"/>
              </a:ext>
            </a:extLst>
          </p:cNvPr>
          <p:cNvSpPr>
            <a:spLocks noGrp="1"/>
          </p:cNvSpPr>
          <p:nvPr/>
        </p:nvSpPr>
        <p:spPr>
          <a:xfrm>
            <a:off x="3371850" y="293370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Understand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4DE95F-C2DB-4050-9D64-8302F8829CEF}"/>
              </a:ext>
            </a:extLst>
          </p:cNvPr>
          <p:cNvSpPr>
            <a:spLocks noGrp="1"/>
          </p:cNvSpPr>
          <p:nvPr/>
        </p:nvSpPr>
        <p:spPr>
          <a:xfrm>
            <a:off x="3371850" y="3581400"/>
            <a:ext cx="1924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Pattern detection that explains likely associations across food, stress, cycle, sleep, and routines.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9A78D1-EA50-4C5C-B5CC-D00F3AFDEFD4}"/>
              </a:ext>
            </a:extLst>
          </p:cNvPr>
          <p:cNvSpPr>
            <a:spLocks noGrp="1"/>
          </p:cNvSpPr>
          <p:nvPr/>
        </p:nvSpPr>
        <p:spPr>
          <a:xfrm>
            <a:off x="5962650" y="2190750"/>
            <a:ext cx="2381250" cy="295275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CE356-0615-486D-8055-4BBEA8A565B6}"/>
              </a:ext>
            </a:extLst>
          </p:cNvPr>
          <p:cNvSpPr>
            <a:spLocks noGrp="1"/>
          </p:cNvSpPr>
          <p:nvPr/>
        </p:nvSpPr>
        <p:spPr>
          <a:xfrm>
            <a:off x="6153150" y="24193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8FFA6-CCAD-4423-8329-7A066DF31A60}"/>
              </a:ext>
            </a:extLst>
          </p:cNvPr>
          <p:cNvSpPr>
            <a:spLocks noGrp="1"/>
          </p:cNvSpPr>
          <p:nvPr/>
        </p:nvSpPr>
        <p:spPr>
          <a:xfrm>
            <a:off x="6153150" y="293370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FF50E-1295-4A2F-8288-B6179C7D595C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1924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Daily guidance for flare planning, safe routines, doctor notes, and habit consistency.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BBDA6D-4959-4EF2-835E-3C1FAFD97A0E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2381250" cy="2952750"/>
          </a:xfrm>
          <a:prstGeom prst="rect">
            <a:avLst/>
          </a:prstGeom>
          <a:solidFill>
            <a:srgbClr val="F7F4ED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EDDA8D-DE18-4EE3-8488-154EA7CCE697}"/>
              </a:ext>
            </a:extLst>
          </p:cNvPr>
          <p:cNvSpPr>
            <a:spLocks noGrp="1"/>
          </p:cNvSpPr>
          <p:nvPr/>
        </p:nvSpPr>
        <p:spPr>
          <a:xfrm>
            <a:off x="8934450" y="24193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543"/>
                </a:solidFill>
              </a:defRPr>
            </a:pPr>
            <a:r>
              <a:rPr sz="1500" b="1">
                <a:solidFill>
                  <a:srgbClr val="F06543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EB2CD7-ADA7-4614-93D9-3B449C2891F2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Personalize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BFD513-20FB-4004-8ADC-174A2B5963D1}"/>
              </a:ext>
            </a:extLst>
          </p:cNvPr>
          <p:cNvSpPr>
            <a:spLocks noGrp="1"/>
          </p:cNvSpPr>
          <p:nvPr/>
        </p:nvSpPr>
        <p:spPr>
          <a:xfrm>
            <a:off x="8934450" y="3581400"/>
            <a:ext cx="1924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Next phase: personalized IBS-friendly meal plans and low-FODMAP support.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ADF576-8A26-44A7-BE5B-CBEEDAAA1AD6}"/>
              </a:ext>
            </a:extLst>
          </p:cNvPr>
          <p:cNvSpPr>
            <a:spLocks noGrp="1"/>
          </p:cNvSpPr>
          <p:nvPr/>
        </p:nvSpPr>
        <p:spPr>
          <a:xfrm>
            <a:off x="704850" y="5619750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Positioning: affordable, empathetic, medically informed support for the daily life layer of IBS.</a:t>
            </a:r>
          </a:p>
        </p:txBody>
      </p:sp>
    </p:spTree>
    <p:extLst>
      <p:ext uri="{BB962C8B-B14F-4D97-AF65-F5344CB8AC3E}">
        <p14:creationId xmlns:p14="http://schemas.microsoft.com/office/powerpoint/2010/main" val="168374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62F25BF-3922-42C3-88D5-0622132BA28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MARKET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A2E749-244A-469D-9719-D8261B0E2560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reachable opportunity sits between digital health growth and IBS spending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84FA996-AF89-41EE-845D-98B4CF52DC80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1F0AD-1A39-40B0-8391-4F1EBE3D3770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255FF-7656-4841-AA2A-FA0963835086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3429000" cy="2095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9F5DE4-210D-49CA-AFDF-DFCEEBCA7995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0F766E"/>
                </a:solidFill>
              </a:defRPr>
            </a:pPr>
            <a:r>
              <a:rPr sz="3750" b="1">
                <a:solidFill>
                  <a:srgbClr val="0F766E"/>
                </a:solidFill>
              </a:rPr>
              <a:t>$1.83T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B9B15-C8D7-49BE-BCCD-CDA138B05992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Digital health by 2033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7AE840-7837-4A9B-8CC3-F135F32546BC}"/>
              </a:ext>
            </a:extLst>
          </p:cNvPr>
          <p:cNvSpPr>
            <a:spLocks noGrp="1"/>
          </p:cNvSpPr>
          <p:nvPr/>
        </p:nvSpPr>
        <p:spPr>
          <a:xfrm>
            <a:off x="628650" y="3562350"/>
            <a:ext cx="297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Grand View Research projects a large, fast-growing digital health market.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8A8AE-EFFC-495A-8556-A241D651AF26}"/>
              </a:ext>
            </a:extLst>
          </p:cNvPr>
          <p:cNvSpPr>
            <a:spLocks noGrp="1"/>
          </p:cNvSpPr>
          <p:nvPr/>
        </p:nvSpPr>
        <p:spPr>
          <a:xfrm>
            <a:off x="4381500" y="2133600"/>
            <a:ext cx="3429000" cy="2095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14F87-0FDD-44AF-B496-D1840D9A2EEB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F06543"/>
                </a:solidFill>
              </a:defRPr>
            </a:pPr>
            <a:r>
              <a:rPr sz="3750" b="1">
                <a:solidFill>
                  <a:srgbClr val="F06543"/>
                </a:solidFill>
              </a:rPr>
              <a:t>$4.6B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44DBA-044E-4B7F-BE0A-25B72140DE7E}"/>
              </a:ext>
            </a:extLst>
          </p:cNvPr>
          <p:cNvSpPr>
            <a:spLocks noGrp="1"/>
          </p:cNvSpPr>
          <p:nvPr/>
        </p:nvSpPr>
        <p:spPr>
          <a:xfrm>
            <a:off x="4610100" y="31623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IBS treatment by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B443A6-2FE6-4FE8-A04E-BC36438751AF}"/>
              </a:ext>
            </a:extLst>
          </p:cNvPr>
          <p:cNvSpPr>
            <a:spLocks noGrp="1"/>
          </p:cNvSpPr>
          <p:nvPr/>
        </p:nvSpPr>
        <p:spPr>
          <a:xfrm>
            <a:off x="4610100" y="3562350"/>
            <a:ext cx="297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Persistence Market Research estimates the IBS treatment market, rising to $8.1B by 2033.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C4E10-5A4F-4FB5-8508-EAA6E2AE44BB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3429000" cy="2095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86F7FA-36C9-4DB5-B437-A4A8BEAD9ABE}"/>
              </a:ext>
            </a:extLst>
          </p:cNvPr>
          <p:cNvSpPr>
            <a:spLocks noGrp="1"/>
          </p:cNvSpPr>
          <p:nvPr/>
        </p:nvSpPr>
        <p:spPr>
          <a:xfrm>
            <a:off x="8591550" y="24003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4A6FA5"/>
                </a:solidFill>
              </a:defRPr>
            </a:pPr>
            <a:r>
              <a:rPr sz="3750" b="1">
                <a:solidFill>
                  <a:srgbClr val="4A6FA5"/>
                </a:solidFill>
              </a:rPr>
              <a:t>$13k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49C17A-B449-4730-BAE6-03D6D2019D58}"/>
              </a:ext>
            </a:extLst>
          </p:cNvPr>
          <p:cNvSpPr>
            <a:spLocks noGrp="1"/>
          </p:cNvSpPr>
          <p:nvPr/>
        </p:nvSpPr>
        <p:spPr>
          <a:xfrm>
            <a:off x="8591550" y="31623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US IBS-D annual costs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1226C1-6CAE-465E-B69E-D23357C51AC2}"/>
              </a:ext>
            </a:extLst>
          </p:cNvPr>
          <p:cNvSpPr>
            <a:spLocks noGrp="1"/>
          </p:cNvSpPr>
          <p:nvPr/>
        </p:nvSpPr>
        <p:spPr>
          <a:xfrm>
            <a:off x="8591550" y="3562350"/>
            <a:ext cx="297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Mean all-cause annual healthcare cost per IBS-D patient in one claims analysis.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800456-6FE5-4C38-9F3C-EBA7CECABB03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At $2 per month, Muna IBS does not need a large share of the global patient base to become meaningful. 100k subscribers equals $2.4M ARR; 1M subscribers equals $24M ARR.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AF78E2-6C8F-405E-8978-93625F2641EF}"/>
              </a:ext>
            </a:extLst>
          </p:cNvPr>
          <p:cNvSpPr>
            <a:spLocks noGrp="1"/>
          </p:cNvSpPr>
          <p:nvPr/>
        </p:nvSpPr>
        <p:spPr>
          <a:xfrm>
            <a:off x="400050" y="625792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55555"/>
                </a:solidFill>
              </a:defRPr>
            </a:pPr>
            <a:r>
              <a:rPr sz="788" b="0">
                <a:solidFill>
                  <a:srgbClr val="555555"/>
                </a:solidFill>
              </a:rPr>
              <a:t>Sources: Grand View Research digital health press release; Persistence Market Research IBS treatment; PMC IBS-D economic burden.</a:t>
            </a:r>
          </a:p>
        </p:txBody>
      </p:sp>
    </p:spTree>
    <p:extLst>
      <p:ext uri="{BB962C8B-B14F-4D97-AF65-F5344CB8AC3E}">
        <p14:creationId xmlns:p14="http://schemas.microsoft.com/office/powerpoint/2010/main" val="167837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C8AD325-E132-440F-8627-344DFB3C39C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MARKET ENTRY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5D105E-04DC-4BB1-A829-A926C6367A6F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first wedge is price-sensitive IBS patients who need daily structure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E8C5D43-6E6A-4224-888A-95752C91964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C314C3-3682-4673-8C40-6DD429D174C8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692A5E-55BE-4EC6-9B45-D7A95903BE8A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Target customer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98DF15-58B8-444E-9B5C-4C1C009C25B6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221FA-C7C4-48DE-98CC-A06C8CE3D418}"/>
              </a:ext>
            </a:extLst>
          </p:cNvPr>
          <p:cNvSpPr>
            <a:spLocks noGrp="1"/>
          </p:cNvSpPr>
          <p:nvPr/>
        </p:nvSpPr>
        <p:spPr>
          <a:xfrm>
            <a:off x="971550" y="278130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Diagnosed or suspected IBS patients managing symptoms at home.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A97B6-DC4B-400B-80A9-1AA04CA2678F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3E14B-DCE7-4764-B3D0-19FCD8F3B145}"/>
              </a:ext>
            </a:extLst>
          </p:cNvPr>
          <p:cNvSpPr>
            <a:spLocks noGrp="1"/>
          </p:cNvSpPr>
          <p:nvPr/>
        </p:nvSpPr>
        <p:spPr>
          <a:xfrm>
            <a:off x="971550" y="348615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People who have tried food restrictions, supplements, YouTube advice, or paper diaries.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2FE88F-9640-43C0-B471-58DA3E0E12FE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9D8039-A0C2-4165-92E2-4EAFAC70AA17}"/>
              </a:ext>
            </a:extLst>
          </p:cNvPr>
          <p:cNvSpPr>
            <a:spLocks noGrp="1"/>
          </p:cNvSpPr>
          <p:nvPr/>
        </p:nvSpPr>
        <p:spPr>
          <a:xfrm>
            <a:off x="971550" y="419100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Patients in markets where dietitian or GI psychology access is limited or expensive.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C8540F-E81A-4EF9-82FF-7C0313B84797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Explorable paid market scenarios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9AECCB-E6C9-4D91-9919-1F739A846BDD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4476750" cy="495300"/>
          </a:xfrm>
          <a:prstGeom prst="rect">
            <a:avLst/>
          </a:prstGeom>
          <a:solidFill>
            <a:srgbClr val="F2F2F0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99EDC-A688-40F3-BB55-6C0BFD2C7F62}"/>
              </a:ext>
            </a:extLst>
          </p:cNvPr>
          <p:cNvSpPr>
            <a:spLocks noGrp="1"/>
          </p:cNvSpPr>
          <p:nvPr/>
        </p:nvSpPr>
        <p:spPr>
          <a:xfrm>
            <a:off x="695325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Starter beachhead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5238B-38E3-4A1A-97D6-A7ED17677CD3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25k users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895F6C-C9C4-4562-BAF2-A55132C46E38}"/>
              </a:ext>
            </a:extLst>
          </p:cNvPr>
          <p:cNvSpPr>
            <a:spLocks noGrp="1"/>
          </p:cNvSpPr>
          <p:nvPr/>
        </p:nvSpPr>
        <p:spPr>
          <a:xfrm>
            <a:off x="10039350" y="29146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$0.6M ARR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972B06-B1B6-4C5C-ACEE-0DC15379F496}"/>
              </a:ext>
            </a:extLst>
          </p:cNvPr>
          <p:cNvSpPr>
            <a:spLocks noGrp="1"/>
          </p:cNvSpPr>
          <p:nvPr/>
        </p:nvSpPr>
        <p:spPr>
          <a:xfrm>
            <a:off x="6762750" y="3448050"/>
            <a:ext cx="4476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6A2008-4587-458E-827D-4EB432D9C4BB}"/>
              </a:ext>
            </a:extLst>
          </p:cNvPr>
          <p:cNvSpPr>
            <a:spLocks noGrp="1"/>
          </p:cNvSpPr>
          <p:nvPr/>
        </p:nvSpPr>
        <p:spPr>
          <a:xfrm>
            <a:off x="6953250" y="35814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Focused niche leader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F91A0F-1740-4C93-956F-97035766ED87}"/>
              </a:ext>
            </a:extLst>
          </p:cNvPr>
          <p:cNvSpPr>
            <a:spLocks noGrp="1"/>
          </p:cNvSpPr>
          <p:nvPr/>
        </p:nvSpPr>
        <p:spPr>
          <a:xfrm>
            <a:off x="8839200" y="35814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100k users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2D91A0-BB16-4E1F-9C85-6AF35646A6CB}"/>
              </a:ext>
            </a:extLst>
          </p:cNvPr>
          <p:cNvSpPr>
            <a:spLocks noGrp="1"/>
          </p:cNvSpPr>
          <p:nvPr/>
        </p:nvSpPr>
        <p:spPr>
          <a:xfrm>
            <a:off x="10039350" y="35814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$2.4M ARR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2D207B-18DA-456D-BC5D-885BCFC10734}"/>
              </a:ext>
            </a:extLst>
          </p:cNvPr>
          <p:cNvSpPr>
            <a:spLocks noGrp="1"/>
          </p:cNvSpPr>
          <p:nvPr/>
        </p:nvSpPr>
        <p:spPr>
          <a:xfrm>
            <a:off x="6762750" y="4114800"/>
            <a:ext cx="4476750" cy="495300"/>
          </a:xfrm>
          <a:prstGeom prst="rect">
            <a:avLst/>
          </a:prstGeom>
          <a:solidFill>
            <a:srgbClr val="F2F2F0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36FE34-10C1-4EC8-959D-AEE3B45D9EEC}"/>
              </a:ext>
            </a:extLst>
          </p:cNvPr>
          <p:cNvSpPr>
            <a:spLocks noGrp="1"/>
          </p:cNvSpPr>
          <p:nvPr/>
        </p:nvSpPr>
        <p:spPr>
          <a:xfrm>
            <a:off x="6953250" y="42481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Scaled patient utility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66DF59-8761-4A7D-B035-D2F727200FE4}"/>
              </a:ext>
            </a:extLst>
          </p:cNvPr>
          <p:cNvSpPr>
            <a:spLocks noGrp="1"/>
          </p:cNvSpPr>
          <p:nvPr/>
        </p:nvSpPr>
        <p:spPr>
          <a:xfrm>
            <a:off x="8839200" y="42481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1M users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326A8B-AC4E-45C0-AE8B-BBBAB5D6678B}"/>
              </a:ext>
            </a:extLst>
          </p:cNvPr>
          <p:cNvSpPr>
            <a:spLocks noGrp="1"/>
          </p:cNvSpPr>
          <p:nvPr/>
        </p:nvSpPr>
        <p:spPr>
          <a:xfrm>
            <a:off x="10039350" y="42481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$24M ARR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E33BA5-6B9A-4320-B978-8940F3B58B6D}"/>
              </a:ext>
            </a:extLst>
          </p:cNvPr>
          <p:cNvSpPr>
            <a:spLocks noGrp="1"/>
          </p:cNvSpPr>
          <p:nvPr/>
        </p:nvSpPr>
        <p:spPr>
          <a:xfrm>
            <a:off x="6762750" y="4781550"/>
            <a:ext cx="4476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5AA85-9542-49A8-860E-00D4B09EEA1A}"/>
              </a:ext>
            </a:extLst>
          </p:cNvPr>
          <p:cNvSpPr>
            <a:spLocks noGrp="1"/>
          </p:cNvSpPr>
          <p:nvPr/>
        </p:nvSpPr>
        <p:spPr>
          <a:xfrm>
            <a:off x="6953250" y="4914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Category platform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B8801E-C486-4E7B-B872-43C6646AC7A8}"/>
              </a:ext>
            </a:extLst>
          </p:cNvPr>
          <p:cNvSpPr>
            <a:spLocks noGrp="1"/>
          </p:cNvSpPr>
          <p:nvPr/>
        </p:nvSpPr>
        <p:spPr>
          <a:xfrm>
            <a:off x="8839200" y="49149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5M users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D60221-13C9-46C8-B13A-729E491733B4}"/>
              </a:ext>
            </a:extLst>
          </p:cNvPr>
          <p:cNvSpPr>
            <a:spLocks noGrp="1"/>
          </p:cNvSpPr>
          <p:nvPr/>
        </p:nvSpPr>
        <p:spPr>
          <a:xfrm>
            <a:off x="10039350" y="49149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$120M ARR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58D2C7-6101-485D-98B0-8C30C711A763}"/>
              </a:ext>
            </a:extLst>
          </p:cNvPr>
          <p:cNvSpPr>
            <a:spLocks noGrp="1"/>
          </p:cNvSpPr>
          <p:nvPr/>
        </p:nvSpPr>
        <p:spPr>
          <a:xfrm>
            <a:off x="6762750" y="5667375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Assumption: $2/month, 12 paid months, before app store fees, taxes, churn, and meal-plan upsell.</a:t>
            </a:r>
          </a:p>
        </p:txBody>
      </p:sp>
    </p:spTree>
    <p:extLst>
      <p:ext uri="{BB962C8B-B14F-4D97-AF65-F5344CB8AC3E}">
        <p14:creationId xmlns:p14="http://schemas.microsoft.com/office/powerpoint/2010/main" val="7677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7C9813-11E9-487F-9F57-848ACF2ED68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BUSINESS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796C83-78C0-4ED0-BBCF-073718016FFC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 nominal subscription lowers adoption friction, then meal plans expand revenue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F897823-940D-4239-B2E7-5F4283ECEAA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F3D581-9764-4938-8790-B6269BACBFEB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666750" y="2381250"/>
          <a:ext cx="48577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26197B9-4C38-4BDF-987B-0BBBEDA00984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Revenue layers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4649F-85B6-488F-9ADE-11652870E7D9}"/>
              </a:ext>
            </a:extLst>
          </p:cNvPr>
          <p:cNvSpPr>
            <a:spLocks noGrp="1"/>
          </p:cNvSpPr>
          <p:nvPr/>
        </p:nvSpPr>
        <p:spPr>
          <a:xfrm>
            <a:off x="6610350" y="29908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3C9C0-9C35-44B1-872E-2721BAD70A55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Core app subscription: $2/month.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091B9F-1316-4274-9F7D-5B05821ADDAC}"/>
              </a:ext>
            </a:extLst>
          </p:cNvPr>
          <p:cNvSpPr>
            <a:spLocks noGrp="1"/>
          </p:cNvSpPr>
          <p:nvPr/>
        </p:nvSpPr>
        <p:spPr>
          <a:xfrm>
            <a:off x="6610350" y="35814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5A5CD-3914-4390-A7E1-B6076DF86FB0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Premium personalized meal plans for IBS subtypes and regional diets.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0F2537-BDDD-4CAA-A786-CA0281FF7ECF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CAACD-9E57-409C-A583-33BB22F82467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Optional expert/dietitian partnerships after validation.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55054-8BEC-4C5A-AD2E-53F410AD1C09}"/>
              </a:ext>
            </a:extLst>
          </p:cNvPr>
          <p:cNvSpPr>
            <a:spLocks noGrp="1"/>
          </p:cNvSpPr>
          <p:nvPr/>
        </p:nvSpPr>
        <p:spPr>
          <a:xfrm>
            <a:off x="6610350" y="47625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2DE69E-E4AF-4100-8C8F-36D63A7DCAC9}"/>
              </a:ext>
            </a:extLst>
          </p:cNvPr>
          <p:cNvSpPr>
            <a:spLocks noGrp="1"/>
          </p:cNvSpPr>
          <p:nvPr/>
        </p:nvSpPr>
        <p:spPr>
          <a:xfrm>
            <a:off x="6858000" y="4686300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Longer-term B2B2C wellness and employer distribution.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842615-C3C3-461C-9193-6DC426EBB23B}"/>
              </a:ext>
            </a:extLst>
          </p:cNvPr>
          <p:cNvSpPr>
            <a:spLocks noGrp="1"/>
          </p:cNvSpPr>
          <p:nvPr/>
        </p:nvSpPr>
        <p:spPr>
          <a:xfrm>
            <a:off x="400050" y="625792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55555"/>
                </a:solidFill>
              </a:defRPr>
            </a:pPr>
            <a:r>
              <a:rPr sz="788" b="0">
                <a:solidFill>
                  <a:srgbClr val="555555"/>
                </a:solidFill>
              </a:rPr>
              <a:t>Scenario math is internal and illustrative.</a:t>
            </a:r>
          </a:p>
        </p:txBody>
      </p:sp>
    </p:spTree>
    <p:extLst>
      <p:ext uri="{BB962C8B-B14F-4D97-AF65-F5344CB8AC3E}">
        <p14:creationId xmlns:p14="http://schemas.microsoft.com/office/powerpoint/2010/main" val="194548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C4EC331-A45D-430E-91C8-655D604F2E2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COMPETITION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85574-102E-4484-910F-1029019A35AB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Existing IBS tools prove demand, but leave room for a low-cost daily-life platform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78224C2-9F35-4361-ABDA-310CB33A35AC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6334A-97E5-4DC0-ADF7-A854C0254C2C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F783C-B83B-48A6-946B-64FCFD24FCAB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799337-3346-4B72-9334-2331ED3969C8}"/>
              </a:ext>
            </a:extLst>
          </p:cNvPr>
          <p:cNvSpPr>
            <a:spLocks noGrp="1"/>
          </p:cNvSpPr>
          <p:nvPr/>
        </p:nvSpPr>
        <p:spPr>
          <a:xfrm>
            <a:off x="2905125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Core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F006B0-5C65-4DF3-A83A-FDE375FC4AE8}"/>
              </a:ext>
            </a:extLst>
          </p:cNvPr>
          <p:cNvSpPr>
            <a:spLocks noGrp="1"/>
          </p:cNvSpPr>
          <p:nvPr/>
        </p:nvSpPr>
        <p:spPr>
          <a:xfrm>
            <a:off x="5410200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Strength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FF4D4-AB5D-4353-A16E-50B46EE9AB4C}"/>
              </a:ext>
            </a:extLst>
          </p:cNvPr>
          <p:cNvSpPr>
            <a:spLocks noGrp="1"/>
          </p:cNvSpPr>
          <p:nvPr/>
        </p:nvSpPr>
        <p:spPr>
          <a:xfrm>
            <a:off x="7915275" y="2095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Gap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C4FE6A-5A7E-4364-96F6-0249D3A18F21}"/>
              </a:ext>
            </a:extLst>
          </p:cNvPr>
          <p:cNvSpPr>
            <a:spLocks noGrp="1"/>
          </p:cNvSpPr>
          <p:nvPr/>
        </p:nvSpPr>
        <p:spPr>
          <a:xfrm>
            <a:off x="10420350" y="20955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Muna angle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7492C9-77AE-4482-8F3B-094FF992C534}"/>
              </a:ext>
            </a:extLst>
          </p:cNvPr>
          <p:cNvSpPr>
            <a:spLocks noGrp="1"/>
          </p:cNvSpPr>
          <p:nvPr/>
        </p:nvSpPr>
        <p:spPr>
          <a:xfrm>
            <a:off x="400050" y="2495549"/>
            <a:ext cx="11391900" cy="571497"/>
          </a:xfrm>
          <a:prstGeom prst="rect">
            <a:avLst/>
          </a:prstGeom>
          <a:solidFill>
            <a:srgbClr val="F2F2F0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6E7070-15F1-4298-88EF-3E4E0B7EBF54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Cara Care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9DA1E4-8ACF-4D66-A15C-7164A2DE5664}"/>
              </a:ext>
            </a:extLst>
          </p:cNvPr>
          <p:cNvSpPr>
            <a:spLocks noGrp="1"/>
          </p:cNvSpPr>
          <p:nvPr/>
        </p:nvSpPr>
        <p:spPr>
          <a:xfrm>
            <a:off x="2905125" y="26193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Tracker + FODMAP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82B9F-0253-4554-9320-41322DB76A3A}"/>
              </a:ext>
            </a:extLst>
          </p:cNvPr>
          <p:cNvSpPr>
            <a:spLocks noGrp="1"/>
          </p:cNvSpPr>
          <p:nvPr/>
        </p:nvSpPr>
        <p:spPr>
          <a:xfrm>
            <a:off x="5410200" y="26193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Holistic logs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9E38A7-A2B6-4349-B47F-6774F9741094}"/>
              </a:ext>
            </a:extLst>
          </p:cNvPr>
          <p:cNvSpPr>
            <a:spLocks noGrp="1"/>
          </p:cNvSpPr>
          <p:nvPr/>
        </p:nvSpPr>
        <p:spPr>
          <a:xfrm>
            <a:off x="7915275" y="26193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May feel broad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6184C8-176F-431B-AC90-23AA36E5CD46}"/>
              </a:ext>
            </a:extLst>
          </p:cNvPr>
          <p:cNvSpPr>
            <a:spLocks noGrp="1"/>
          </p:cNvSpPr>
          <p:nvPr/>
        </p:nvSpPr>
        <p:spPr>
          <a:xfrm>
            <a:off x="10420350" y="261937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Personal IBS routine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56EEB-2DF3-4D31-8167-2800917628BC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11391900" cy="571496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AAF326-C397-4B85-B5BB-21B4B2BB1FDB}"/>
              </a:ext>
            </a:extLst>
          </p:cNvPr>
          <p:cNvSpPr>
            <a:spLocks noGrp="1"/>
          </p:cNvSpPr>
          <p:nvPr/>
        </p:nvSpPr>
        <p:spPr>
          <a:xfrm>
            <a:off x="400050" y="32099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Monash FODMAP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F5F32C-8313-43F9-A3B6-7C1532A6CCA0}"/>
              </a:ext>
            </a:extLst>
          </p:cNvPr>
          <p:cNvSpPr>
            <a:spLocks noGrp="1"/>
          </p:cNvSpPr>
          <p:nvPr/>
        </p:nvSpPr>
        <p:spPr>
          <a:xfrm>
            <a:off x="2905125" y="32099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Food guide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8231D2-6BE2-42E8-A747-CF0F30CAF205}"/>
              </a:ext>
            </a:extLst>
          </p:cNvPr>
          <p:cNvSpPr>
            <a:spLocks noGrp="1"/>
          </p:cNvSpPr>
          <p:nvPr/>
        </p:nvSpPr>
        <p:spPr>
          <a:xfrm>
            <a:off x="5410200" y="32099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 dirty="0">
                <a:solidFill>
                  <a:srgbClr val="111111"/>
                </a:solidFill>
              </a:rPr>
              <a:t>Clinical authority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71B152-0945-4842-9400-A3B67F9B91C7}"/>
              </a:ext>
            </a:extLst>
          </p:cNvPr>
          <p:cNvSpPr>
            <a:spLocks noGrp="1"/>
          </p:cNvSpPr>
          <p:nvPr/>
        </p:nvSpPr>
        <p:spPr>
          <a:xfrm>
            <a:off x="7915275" y="32099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Diet focus only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229634-AC88-45EA-A80F-3081EABC5C89}"/>
              </a:ext>
            </a:extLst>
          </p:cNvPr>
          <p:cNvSpPr>
            <a:spLocks noGrp="1"/>
          </p:cNvSpPr>
          <p:nvPr/>
        </p:nvSpPr>
        <p:spPr>
          <a:xfrm>
            <a:off x="10420350" y="320992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Day-to-day companion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FD649E-FAA7-48F8-8E90-E43D83C7326C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11391900" cy="457200"/>
          </a:xfrm>
          <a:prstGeom prst="rect">
            <a:avLst/>
          </a:prstGeom>
          <a:solidFill>
            <a:srgbClr val="F2F2F0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AC9204-9BE5-4769-A3D5-5060CCCB65EA}"/>
              </a:ext>
            </a:extLst>
          </p:cNvPr>
          <p:cNvSpPr>
            <a:spLocks noGrp="1"/>
          </p:cNvSpPr>
          <p:nvPr/>
        </p:nvSpPr>
        <p:spPr>
          <a:xfrm>
            <a:off x="400050" y="38004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Nerva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8A47E5-510B-4228-A0DA-715A526908A9}"/>
              </a:ext>
            </a:extLst>
          </p:cNvPr>
          <p:cNvSpPr>
            <a:spLocks noGrp="1"/>
          </p:cNvSpPr>
          <p:nvPr/>
        </p:nvSpPr>
        <p:spPr>
          <a:xfrm>
            <a:off x="2905125" y="38004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Hypnotherapy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7AA5C9-505F-4936-A93E-7A335C2E6DA5}"/>
              </a:ext>
            </a:extLst>
          </p:cNvPr>
          <p:cNvSpPr>
            <a:spLocks noGrp="1"/>
          </p:cNvSpPr>
          <p:nvPr/>
        </p:nvSpPr>
        <p:spPr>
          <a:xfrm>
            <a:off x="5410200" y="38004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Gut-brain program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FC4E42-B5E3-4E5E-B5F5-F58EB99E8007}"/>
              </a:ext>
            </a:extLst>
          </p:cNvPr>
          <p:cNvSpPr>
            <a:spLocks noGrp="1"/>
          </p:cNvSpPr>
          <p:nvPr/>
        </p:nvSpPr>
        <p:spPr>
          <a:xfrm>
            <a:off x="7915275" y="38004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Higher annual price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A65867-B542-4E0A-8511-D4AEECAD4953}"/>
              </a:ext>
            </a:extLst>
          </p:cNvPr>
          <p:cNvSpPr>
            <a:spLocks noGrp="1"/>
          </p:cNvSpPr>
          <p:nvPr/>
        </p:nvSpPr>
        <p:spPr>
          <a:xfrm>
            <a:off x="10420350" y="380047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$2/month access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0B7438-A0A2-462D-8328-B4939021F283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11391900" cy="514354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B93754-EAD7-4DC2-9AFE-1AF77220D4C7}"/>
              </a:ext>
            </a:extLst>
          </p:cNvPr>
          <p:cNvSpPr>
            <a:spLocks noGrp="1"/>
          </p:cNvSpPr>
          <p:nvPr/>
        </p:nvSpPr>
        <p:spPr>
          <a:xfrm>
            <a:off x="400050" y="43910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Mahana IBS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47F581-0A0F-40B6-91F1-BE98CE09F2B1}"/>
              </a:ext>
            </a:extLst>
          </p:cNvPr>
          <p:cNvSpPr>
            <a:spLocks noGrp="1"/>
          </p:cNvSpPr>
          <p:nvPr/>
        </p:nvSpPr>
        <p:spPr>
          <a:xfrm>
            <a:off x="2905125" y="43910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Digital CBT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26B3A3-3A13-4CAA-9597-7BF010691D8D}"/>
              </a:ext>
            </a:extLst>
          </p:cNvPr>
          <p:cNvSpPr>
            <a:spLocks noGrp="1"/>
          </p:cNvSpPr>
          <p:nvPr/>
        </p:nvSpPr>
        <p:spPr>
          <a:xfrm>
            <a:off x="5410200" y="43910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FDA-cleared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CC1BA2-0FEF-4D1A-A6CF-1DD4D954D9F5}"/>
              </a:ext>
            </a:extLst>
          </p:cNvPr>
          <p:cNvSpPr>
            <a:spLocks noGrp="1"/>
          </p:cNvSpPr>
          <p:nvPr/>
        </p:nvSpPr>
        <p:spPr>
          <a:xfrm>
            <a:off x="7915275" y="439102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Prescription pathway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A8118-46FD-465B-90C7-89D3AB3BFA35}"/>
              </a:ext>
            </a:extLst>
          </p:cNvPr>
          <p:cNvSpPr>
            <a:spLocks noGrp="1"/>
          </p:cNvSpPr>
          <p:nvPr/>
        </p:nvSpPr>
        <p:spPr>
          <a:xfrm>
            <a:off x="10420350" y="439102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Consumer-first entry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E43462-217E-4354-8CB1-BB0F2C8686E0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1391900" cy="457200"/>
          </a:xfrm>
          <a:prstGeom prst="rect">
            <a:avLst/>
          </a:prstGeom>
          <a:solidFill>
            <a:srgbClr val="F2F2F0"/>
          </a:solidFill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7E7013-EA7D-49EE-9CAA-BA97E2008058}"/>
              </a:ext>
            </a:extLst>
          </p:cNvPr>
          <p:cNvSpPr>
            <a:spLocks noGrp="1"/>
          </p:cNvSpPr>
          <p:nvPr/>
        </p:nvSpPr>
        <p:spPr>
          <a:xfrm>
            <a:off x="400050" y="49815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myIBS / Bowelle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E10EB7-18AD-43E7-B61D-242696B05BBA}"/>
              </a:ext>
            </a:extLst>
          </p:cNvPr>
          <p:cNvSpPr>
            <a:spLocks noGrp="1"/>
          </p:cNvSpPr>
          <p:nvPr/>
        </p:nvSpPr>
        <p:spPr>
          <a:xfrm>
            <a:off x="2905125" y="49815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Symptom diary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70A8D1-9421-41C3-BD28-211C8726138F}"/>
              </a:ext>
            </a:extLst>
          </p:cNvPr>
          <p:cNvSpPr>
            <a:spLocks noGrp="1"/>
          </p:cNvSpPr>
          <p:nvPr/>
        </p:nvSpPr>
        <p:spPr>
          <a:xfrm>
            <a:off x="5410200" y="49815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Simple logging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CA6681-74A6-43D3-8635-55B9E381503C}"/>
              </a:ext>
            </a:extLst>
          </p:cNvPr>
          <p:cNvSpPr>
            <a:spLocks noGrp="1"/>
          </p:cNvSpPr>
          <p:nvPr/>
        </p:nvSpPr>
        <p:spPr>
          <a:xfrm>
            <a:off x="7915275" y="49815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Limited guidance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CD36D5-04A8-4FAF-B9D7-A094F99D2441}"/>
              </a:ext>
            </a:extLst>
          </p:cNvPr>
          <p:cNvSpPr>
            <a:spLocks noGrp="1"/>
          </p:cNvSpPr>
          <p:nvPr/>
        </p:nvSpPr>
        <p:spPr>
          <a:xfrm>
            <a:off x="10420350" y="498157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Insights + meals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3479034-0AE9-49D7-8DA1-3F17681D0417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Differentiation: lived-experience empathy, localized meal planning, low price, and patient-owned evidence for doctor conversations.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3117D2-9154-4FBD-B26B-248CD6732B75}"/>
              </a:ext>
            </a:extLst>
          </p:cNvPr>
          <p:cNvSpPr>
            <a:spLocks noGrp="1"/>
          </p:cNvSpPr>
          <p:nvPr/>
        </p:nvSpPr>
        <p:spPr>
          <a:xfrm>
            <a:off x="400050" y="625792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555555"/>
                </a:solidFill>
              </a:defRPr>
            </a:pPr>
            <a:r>
              <a:rPr sz="788" b="0">
                <a:solidFill>
                  <a:srgbClr val="555555"/>
                </a:solidFill>
              </a:rPr>
              <a:t>Sources: App Store/Google Play descriptions; Nerva clinician pricing; FDA 510(k) listing for Mahana IBS.</a:t>
            </a:r>
          </a:p>
        </p:txBody>
      </p:sp>
    </p:spTree>
    <p:extLst>
      <p:ext uri="{BB962C8B-B14F-4D97-AF65-F5344CB8AC3E}">
        <p14:creationId xmlns:p14="http://schemas.microsoft.com/office/powerpoint/2010/main" val="2250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8EBEA4-20FD-4F4F-9E91-403E2FD7839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TRACTION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ACE21-8595-438A-815A-8100616E9868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venture is pre-launch, so traction must be built around proof of need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3A67D97-3362-4524-9D79-A6A207FF431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BEA1C-849C-4A4C-99C5-C3EEFEC3C5D9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4BE27-BE55-43CB-ADB7-9148CD7BA48A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2857500" cy="2095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86756-4533-40FB-8A95-B509E2431323}"/>
              </a:ext>
            </a:extLst>
          </p:cNvPr>
          <p:cNvSpPr>
            <a:spLocks noGrp="1"/>
          </p:cNvSpPr>
          <p:nvPr/>
        </p:nvSpPr>
        <p:spPr>
          <a:xfrm>
            <a:off x="895350" y="2495550"/>
            <a:ext cx="2400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F06543"/>
                </a:solidFill>
              </a:defRPr>
            </a:pPr>
            <a:r>
              <a:rPr sz="3750" b="1">
                <a:solidFill>
                  <a:srgbClr val="F06543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508B58-E5B3-444A-BD16-87B718B010C8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2400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Current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4A4EF-DEBA-426E-B249-81683AA80468}"/>
              </a:ext>
            </a:extLst>
          </p:cNvPr>
          <p:cNvSpPr>
            <a:spLocks noGrp="1"/>
          </p:cNvSpPr>
          <p:nvPr/>
        </p:nvSpPr>
        <p:spPr>
          <a:xfrm>
            <a:off x="895350" y="3657600"/>
            <a:ext cx="2400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 users yet. Product concept and founder problem insight are the starting assets.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E67683-427F-4B97-A68F-0403840AA356}"/>
              </a:ext>
            </a:extLst>
          </p:cNvPr>
          <p:cNvSpPr>
            <a:spLocks noGrp="1"/>
          </p:cNvSpPr>
          <p:nvPr/>
        </p:nvSpPr>
        <p:spPr>
          <a:xfrm>
            <a:off x="3905250" y="2228850"/>
            <a:ext cx="2857500" cy="2095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4FCCC-A0C0-4D6C-93E4-120F2FDC15DC}"/>
              </a:ext>
            </a:extLst>
          </p:cNvPr>
          <p:cNvSpPr>
            <a:spLocks noGrp="1"/>
          </p:cNvSpPr>
          <p:nvPr/>
        </p:nvSpPr>
        <p:spPr>
          <a:xfrm>
            <a:off x="4133850" y="2495550"/>
            <a:ext cx="2400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0F766E"/>
                </a:solidFill>
              </a:defRPr>
            </a:pPr>
            <a:r>
              <a:rPr sz="3750" b="1">
                <a:solidFill>
                  <a:srgbClr val="0F766E"/>
                </a:solidFill>
              </a:rPr>
              <a:t>6 yrs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037AC9-C130-4AB8-A1AC-76B753C4E8A7}"/>
              </a:ext>
            </a:extLst>
          </p:cNvPr>
          <p:cNvSpPr>
            <a:spLocks noGrp="1"/>
          </p:cNvSpPr>
          <p:nvPr/>
        </p:nvSpPr>
        <p:spPr>
          <a:xfrm>
            <a:off x="4133850" y="3257550"/>
            <a:ext cx="2400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Founder 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B6FA7-C256-4D91-8F80-FC47EB0D6CCC}"/>
              </a:ext>
            </a:extLst>
          </p:cNvPr>
          <p:cNvSpPr>
            <a:spLocks noGrp="1"/>
          </p:cNvSpPr>
          <p:nvPr/>
        </p:nvSpPr>
        <p:spPr>
          <a:xfrm>
            <a:off x="4133850" y="3657600"/>
            <a:ext cx="2400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Shuvam's lived IBS experience provides authentic problem depth and product empathy.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2088DA-BF34-4BDA-8148-3201BA4B5728}"/>
              </a:ext>
            </a:extLst>
          </p:cNvPr>
          <p:cNvSpPr>
            <a:spLocks noGrp="1"/>
          </p:cNvSpPr>
          <p:nvPr/>
        </p:nvSpPr>
        <p:spPr>
          <a:xfrm>
            <a:off x="7143750" y="2228850"/>
            <a:ext cx="2857500" cy="2095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30B6D9-F3A0-48C9-A549-67BEC70B7278}"/>
              </a:ext>
            </a:extLst>
          </p:cNvPr>
          <p:cNvSpPr>
            <a:spLocks noGrp="1"/>
          </p:cNvSpPr>
          <p:nvPr/>
        </p:nvSpPr>
        <p:spPr>
          <a:xfrm>
            <a:off x="7372350" y="2495550"/>
            <a:ext cx="2400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4A6FA5"/>
                </a:solidFill>
              </a:defRPr>
            </a:pPr>
            <a:r>
              <a:rPr sz="3750" b="1">
                <a:solidFill>
                  <a:srgbClr val="4A6FA5"/>
                </a:solidFill>
              </a:rPr>
              <a:t>100%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FDF857-83E2-4307-97A1-57C93A97318C}"/>
              </a:ext>
            </a:extLst>
          </p:cNvPr>
          <p:cNvSpPr>
            <a:spLocks noGrp="1"/>
          </p:cNvSpPr>
          <p:nvPr/>
        </p:nvSpPr>
        <p:spPr>
          <a:xfrm>
            <a:off x="7372350" y="3257550"/>
            <a:ext cx="2400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Funding status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867E53-44FD-4803-802A-19C6DF4D0DCB}"/>
              </a:ext>
            </a:extLst>
          </p:cNvPr>
          <p:cNvSpPr>
            <a:spLocks noGrp="1"/>
          </p:cNvSpPr>
          <p:nvPr/>
        </p:nvSpPr>
        <p:spPr>
          <a:xfrm>
            <a:off x="7372350" y="3657600"/>
            <a:ext cx="2400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Fully self-funded / bootstrapped so far.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6FE10-8C73-4B93-B548-7E92149607CE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981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Next traction milestones: 100 patient interviews, clickable prototype, 500 waitlist signups, 50 beta testers, retention proof after 30 days, and first paid subscribers.</a:t>
            </a:r>
          </a:p>
        </p:txBody>
      </p:sp>
    </p:spTree>
    <p:extLst>
      <p:ext uri="{BB962C8B-B14F-4D97-AF65-F5344CB8AC3E}">
        <p14:creationId xmlns:p14="http://schemas.microsoft.com/office/powerpoint/2010/main" val="134057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F28DFD-6861-4015-A31D-485C8713FF3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FOUNDING 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ED7E7-9B03-4743-ACBE-4C06761AC034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 founder-led start gives Muna IBS authenticity, but the next hires de-risk execution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2A756B9-A482-479A-95A5-8CD576D8F23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783AF7-9EE3-4C2D-B9CE-6CC24E0A403B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5061A-7A76-4611-8571-1BC2B119DA2D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3905250" cy="2857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1124E4-860B-4A29-A22F-F0E95B74DD12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Shuvam Subedi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355D9-06EB-4FEA-AC5B-9E15EEECFDA1}"/>
              </a:ext>
            </a:extLst>
          </p:cNvPr>
          <p:cNvSpPr>
            <a:spLocks noGrp="1"/>
          </p:cNvSpPr>
          <p:nvPr/>
        </p:nvSpPr>
        <p:spPr>
          <a:xfrm>
            <a:off x="1085850" y="33147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Founder, shareholder, and first product voice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784F4-6987-4261-99D8-12A975BA7601}"/>
              </a:ext>
            </a:extLst>
          </p:cNvPr>
          <p:cNvSpPr>
            <a:spLocks noGrp="1"/>
          </p:cNvSpPr>
          <p:nvPr/>
        </p:nvSpPr>
        <p:spPr>
          <a:xfrm>
            <a:off x="1085850" y="3943350"/>
            <a:ext cx="3000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IBS patient for six years, building from direct lived experience and a desire to turn daily symptom lessons into practical support for others.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980272-6AFD-4FF7-A4E3-8948F9010508}"/>
              </a:ext>
            </a:extLst>
          </p:cNvPr>
          <p:cNvSpPr>
            <a:spLocks noGrp="1"/>
          </p:cNvSpPr>
          <p:nvPr/>
        </p:nvSpPr>
        <p:spPr>
          <a:xfrm>
            <a:off x="5810250" y="22479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Planned advisory bench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7C8BFD-61B9-4CC4-843E-137D4EA9EC2A}"/>
              </a:ext>
            </a:extLst>
          </p:cNvPr>
          <p:cNvSpPr>
            <a:spLocks noGrp="1"/>
          </p:cNvSpPr>
          <p:nvPr/>
        </p:nvSpPr>
        <p:spPr>
          <a:xfrm>
            <a:off x="5848350" y="29527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CBD56C-ED25-4663-81DA-9490EA9096FE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Gastroenterologist or IBS-specialist physician.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F2DE6-AAFF-4CFF-88AD-8AAE3B1C7E23}"/>
              </a:ext>
            </a:extLst>
          </p:cNvPr>
          <p:cNvSpPr>
            <a:spLocks noGrp="1"/>
          </p:cNvSpPr>
          <p:nvPr/>
        </p:nvSpPr>
        <p:spPr>
          <a:xfrm>
            <a:off x="5848350" y="35623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EE9C4A-06A6-4F76-B56F-11CA4E55D425}"/>
              </a:ext>
            </a:extLst>
          </p:cNvPr>
          <p:cNvSpPr>
            <a:spLocks noGrp="1"/>
          </p:cNvSpPr>
          <p:nvPr/>
        </p:nvSpPr>
        <p:spPr>
          <a:xfrm>
            <a:off x="6096000" y="34861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Registered dietitian trained in low-FODMAP protocols.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D11403-33FD-4B71-9722-CEFE397581D5}"/>
              </a:ext>
            </a:extLst>
          </p:cNvPr>
          <p:cNvSpPr>
            <a:spLocks noGrp="1"/>
          </p:cNvSpPr>
          <p:nvPr/>
        </p:nvSpPr>
        <p:spPr>
          <a:xfrm>
            <a:off x="5848350" y="41719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A5643A-A03A-44A7-9BB8-056F764B38C0}"/>
              </a:ext>
            </a:extLst>
          </p:cNvPr>
          <p:cNvSpPr>
            <a:spLocks noGrp="1"/>
          </p:cNvSpPr>
          <p:nvPr/>
        </p:nvSpPr>
        <p:spPr>
          <a:xfrm>
            <a:off x="6096000" y="40957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Behavioral health / gut-brain specialist.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6E00CD-4B5E-4B62-9A8A-85B6F1BAF932}"/>
              </a:ext>
            </a:extLst>
          </p:cNvPr>
          <p:cNvSpPr>
            <a:spLocks noGrp="1"/>
          </p:cNvSpPr>
          <p:nvPr/>
        </p:nvSpPr>
        <p:spPr>
          <a:xfrm>
            <a:off x="5848350" y="47815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9CCE21-BDEF-45E5-9FA0-73A7F7825AA3}"/>
              </a:ext>
            </a:extLst>
          </p:cNvPr>
          <p:cNvSpPr>
            <a:spLocks noGrp="1"/>
          </p:cNvSpPr>
          <p:nvPr/>
        </p:nvSpPr>
        <p:spPr>
          <a:xfrm>
            <a:off x="6096000" y="47053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Mobile product and growth operator.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C36FE8-24CD-4E46-9BEA-FDA8845E7C8C}"/>
              </a:ext>
            </a:extLst>
          </p:cNvPr>
          <p:cNvSpPr>
            <a:spLocks noGrp="1"/>
          </p:cNvSpPr>
          <p:nvPr/>
        </p:nvSpPr>
        <p:spPr>
          <a:xfrm>
            <a:off x="5848350" y="5619750"/>
            <a:ext cx="514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team story should shift from founder passion to clinical credibility as soon as advisors join.</a:t>
            </a:r>
          </a:p>
        </p:txBody>
      </p:sp>
    </p:spTree>
    <p:extLst>
      <p:ext uri="{BB962C8B-B14F-4D97-AF65-F5344CB8AC3E}">
        <p14:creationId xmlns:p14="http://schemas.microsoft.com/office/powerpoint/2010/main" val="214701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AEA728A-9DAD-4713-8597-6055F5186D4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C941A-D17D-47A2-B02E-F1F0C4BFC455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product path moves from tracking to insight to personalized nutrition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B0E89A4-210C-449A-A691-057902B7C766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618AF-1B6A-4FFF-B110-76D32D032EAC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008A9-8D71-4CB5-B2E9-F0C3C807B68F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2286000" cy="2857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05EF4-2735-4CA7-8B85-D24735C4CC98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0-3 months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39AB5A-28AC-421C-93C3-8799DC201BDA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Discovery and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EBEA2-DB3D-4D98-9D10-674025E9E33F}"/>
              </a:ext>
            </a:extLst>
          </p:cNvPr>
          <p:cNvSpPr>
            <a:spLocks noGrp="1"/>
          </p:cNvSpPr>
          <p:nvPr/>
        </p:nvSpPr>
        <p:spPr>
          <a:xfrm>
            <a:off x="819150" y="3943350"/>
            <a:ext cx="17907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Interviews, medical review, MVP scope, app flows, privacy baseline.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3EC82-9B01-40EC-8C50-388F8B59C14F}"/>
              </a:ext>
            </a:extLst>
          </p:cNvPr>
          <p:cNvSpPr>
            <a:spLocks noGrp="1"/>
          </p:cNvSpPr>
          <p:nvPr/>
        </p:nvSpPr>
        <p:spPr>
          <a:xfrm>
            <a:off x="3448050" y="2343150"/>
            <a:ext cx="2286000" cy="2857500"/>
          </a:xfrm>
          <a:prstGeom prst="rect">
            <a:avLst/>
          </a:prstGeom>
          <a:solidFill>
            <a:srgbClr val="F7F4ED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333C02-D9F5-4727-A14C-79ECCCEF31BB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3-6 months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EED0A-3B67-4D01-9CC3-2F5D3658C3FD}"/>
              </a:ext>
            </a:extLst>
          </p:cNvPr>
          <p:cNvSpPr>
            <a:spLocks noGrp="1"/>
          </p:cNvSpPr>
          <p:nvPr/>
        </p:nvSpPr>
        <p:spPr>
          <a:xfrm>
            <a:off x="3638550" y="30861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Beta launch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DCC909-0E2E-450C-83BB-F9EBDB4F97E9}"/>
              </a:ext>
            </a:extLst>
          </p:cNvPr>
          <p:cNvSpPr>
            <a:spLocks noGrp="1"/>
          </p:cNvSpPr>
          <p:nvPr/>
        </p:nvSpPr>
        <p:spPr>
          <a:xfrm>
            <a:off x="3638550" y="3943350"/>
            <a:ext cx="17907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Symptom tracker, food/stress/sleep logs, flare notes, doctor export.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1489A-74A9-4578-A971-C7ACEC2E1F61}"/>
              </a:ext>
            </a:extLst>
          </p:cNvPr>
          <p:cNvSpPr>
            <a:spLocks noGrp="1"/>
          </p:cNvSpPr>
          <p:nvPr/>
        </p:nvSpPr>
        <p:spPr>
          <a:xfrm>
            <a:off x="6267450" y="2343150"/>
            <a:ext cx="2286000" cy="2857500"/>
          </a:xfrm>
          <a:prstGeom prst="rect">
            <a:avLst/>
          </a:prstGeom>
          <a:solidFill>
            <a:srgbClr val="F2F2F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A6A6A7-0E1B-4AA3-A61E-2B03A5904A36}"/>
              </a:ext>
            </a:extLst>
          </p:cNvPr>
          <p:cNvSpPr>
            <a:spLocks noGrp="1"/>
          </p:cNvSpPr>
          <p:nvPr/>
        </p:nvSpPr>
        <p:spPr>
          <a:xfrm>
            <a:off x="6457950" y="2571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6-12 months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C8435-7F81-49C0-AD0F-BE115D340D03}"/>
              </a:ext>
            </a:extLst>
          </p:cNvPr>
          <p:cNvSpPr>
            <a:spLocks noGrp="1"/>
          </p:cNvSpPr>
          <p:nvPr/>
        </p:nvSpPr>
        <p:spPr>
          <a:xfrm>
            <a:off x="6457950" y="30861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Paid core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05627-79E5-4CA8-9943-BA7CC91827ED}"/>
              </a:ext>
            </a:extLst>
          </p:cNvPr>
          <p:cNvSpPr>
            <a:spLocks noGrp="1"/>
          </p:cNvSpPr>
          <p:nvPr/>
        </p:nvSpPr>
        <p:spPr>
          <a:xfrm>
            <a:off x="6457950" y="3943350"/>
            <a:ext cx="17907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$2/month launch, onboarding funnels, retention loops, patient community learning.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35C982-12B8-4C3B-BCAA-CA59B24E2982}"/>
              </a:ext>
            </a:extLst>
          </p:cNvPr>
          <p:cNvSpPr>
            <a:spLocks noGrp="1"/>
          </p:cNvSpPr>
          <p:nvPr/>
        </p:nvSpPr>
        <p:spPr>
          <a:xfrm>
            <a:off x="9086850" y="2343150"/>
            <a:ext cx="2286000" cy="2857500"/>
          </a:xfrm>
          <a:prstGeom prst="rect">
            <a:avLst/>
          </a:prstGeom>
          <a:solidFill>
            <a:srgbClr val="F7F4ED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44F3F-88EC-4B62-AFE0-C879024322EC}"/>
              </a:ext>
            </a:extLst>
          </p:cNvPr>
          <p:cNvSpPr>
            <a:spLocks noGrp="1"/>
          </p:cNvSpPr>
          <p:nvPr/>
        </p:nvSpPr>
        <p:spPr>
          <a:xfrm>
            <a:off x="9277350" y="2571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12-18 months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BE42CF-428E-4ADC-93BE-CC528D40FD97}"/>
              </a:ext>
            </a:extLst>
          </p:cNvPr>
          <p:cNvSpPr>
            <a:spLocks noGrp="1"/>
          </p:cNvSpPr>
          <p:nvPr/>
        </p:nvSpPr>
        <p:spPr>
          <a:xfrm>
            <a:off x="9277350" y="30861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Meal-plan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DB5FB3-EB51-4740-B8A6-9CE5E6E57591}"/>
              </a:ext>
            </a:extLst>
          </p:cNvPr>
          <p:cNvSpPr>
            <a:spLocks noGrp="1"/>
          </p:cNvSpPr>
          <p:nvPr/>
        </p:nvSpPr>
        <p:spPr>
          <a:xfrm>
            <a:off x="9277350" y="3943350"/>
            <a:ext cx="17907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Personalized IBS-friendly meals by subtype, region, tolerance, and budget.</a:t>
            </a:r>
          </a:p>
        </p:txBody>
      </p:sp>
    </p:spTree>
    <p:extLst>
      <p:ext uri="{BB962C8B-B14F-4D97-AF65-F5344CB8AC3E}">
        <p14:creationId xmlns:p14="http://schemas.microsoft.com/office/powerpoint/2010/main" val="66196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217A57-E142-4EC9-AA31-98B4FC6C76C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FUNDRAISING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D72DC-4BBF-4E4B-968B-FED62979CD6E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Bootstrap now, raise after evidence shows patients return and pay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1622732-DB09-45E4-AD7D-2B12F1AD254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C1D84-7B5D-40C1-A1EB-9D6A3A0BF8B3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F62EB2-066B-4D08-934A-B68983060332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Funding raised so far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AB32D-9E6F-48E6-A1EE-9D2B1B874141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Fully self-funded / bootstrapped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7A926-0ACE-4F0A-8B00-09E5F7089690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Previous fundraising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99056-F636-4F4A-A94C-51B7CB46945D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No outside funding raised yet.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9EAB0D-C5EF-4618-8A39-106975E23C3C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Next fundraising trigger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16EAE0-0D4B-412C-B624-70F5E2A8A855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5465C4-33BB-42C3-9A6D-27118DFFA49A}"/>
              </a:ext>
            </a:extLst>
          </p:cNvPr>
          <p:cNvSpPr>
            <a:spLocks noGrp="1"/>
          </p:cNvSpPr>
          <p:nvPr/>
        </p:nvSpPr>
        <p:spPr>
          <a:xfrm>
            <a:off x="6858000" y="287655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Raise a small pre-seed only after MVP, waitlist, beta retention, and paid conversion signals.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D3AB39-0116-4B09-BD36-421A25C04BB4}"/>
              </a:ext>
            </a:extLst>
          </p:cNvPr>
          <p:cNvSpPr>
            <a:spLocks noGrp="1"/>
          </p:cNvSpPr>
          <p:nvPr/>
        </p:nvSpPr>
        <p:spPr>
          <a:xfrm>
            <a:off x="6610350" y="36766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CA659-F3C9-4EAD-BDDB-34D49BE0CCDC}"/>
              </a:ext>
            </a:extLst>
          </p:cNvPr>
          <p:cNvSpPr>
            <a:spLocks noGrp="1"/>
          </p:cNvSpPr>
          <p:nvPr/>
        </p:nvSpPr>
        <p:spPr>
          <a:xfrm>
            <a:off x="6858000" y="360045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Use funds for product build, clinical review, privacy/security, and early growth experiments.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BA88F6-7CEA-4C52-93DF-A9BBA7C17303}"/>
              </a:ext>
            </a:extLst>
          </p:cNvPr>
          <p:cNvSpPr>
            <a:spLocks noGrp="1"/>
          </p:cNvSpPr>
          <p:nvPr/>
        </p:nvSpPr>
        <p:spPr>
          <a:xfrm>
            <a:off x="6610350" y="44005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0BB99D-FA65-46D9-8B99-F99A12CAECC2}"/>
              </a:ext>
            </a:extLst>
          </p:cNvPr>
          <p:cNvSpPr>
            <a:spLocks noGrp="1"/>
          </p:cNvSpPr>
          <p:nvPr/>
        </p:nvSpPr>
        <p:spPr>
          <a:xfrm>
            <a:off x="6858000" y="432435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Indicative ask to refine: $150k-$300k pre-seed for 12-18 months after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88873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869715-2B0E-4958-8609-A6295CBD4D6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NEXT STEP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E3193-B079-4BF5-BB89-AB956657C526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Muna IBS should validate one simple promise before scaling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8509275-D3D2-4F5F-897D-F8476046371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0"/>
          </a:xfrm>
          <a:prstGeom prst="line">
            <a:avLst/>
          </a:prstGeom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C1F1A0-CB6D-40FF-BDEC-86397C7D90EB}"/>
              </a:ext>
            </a:extLst>
          </p:cNvPr>
          <p:cNvSpPr>
            <a:spLocks noGrp="1"/>
          </p:cNvSpPr>
          <p:nvPr/>
        </p:nvSpPr>
        <p:spPr>
          <a:xfrm>
            <a:off x="11287125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1F008-62F4-49A0-BA1B-78B913F75990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9620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Can a $2/month IBS companion help patients feel more prepared, identify triggers faster, and manage daily life with less anxiety?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8F958F-BF75-4267-A2F4-0BD8537A7380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6E577D-4E62-4659-96D1-FEDBC998FADA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Build the MVP around logging, insights, and flare planning.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64970-041F-43C9-A0DB-A6DF67F98530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13E17-9BB2-45BA-B198-2503B106EDB5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Recruit the first 50 beta users from IBS communities and founder network.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5D016E-FD7B-4F6E-9A65-E4C080AFA609}"/>
              </a:ext>
            </a:extLst>
          </p:cNvPr>
          <p:cNvSpPr>
            <a:spLocks noGrp="1"/>
          </p:cNvSpPr>
          <p:nvPr/>
        </p:nvSpPr>
        <p:spPr>
          <a:xfrm>
            <a:off x="895350" y="47244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6EBEFE-807B-4862-ABB1-6B4444D9F9D3}"/>
              </a:ext>
            </a:extLst>
          </p:cNvPr>
          <p:cNvSpPr>
            <a:spLocks noGrp="1"/>
          </p:cNvSpPr>
          <p:nvPr/>
        </p:nvSpPr>
        <p:spPr>
          <a:xfrm>
            <a:off x="1143000" y="464820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Create a clinical and dietitian advisory loop before meal-plan claims are marketed.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68FD3-AD89-4CCA-8BA1-F04611377485}"/>
              </a:ext>
            </a:extLst>
          </p:cNvPr>
          <p:cNvSpPr>
            <a:spLocks noGrp="1"/>
          </p:cNvSpPr>
          <p:nvPr/>
        </p:nvSpPr>
        <p:spPr>
          <a:xfrm>
            <a:off x="895350" y="52768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84C26A-E8D1-4987-B246-FA19991C41B7}"/>
              </a:ext>
            </a:extLst>
          </p:cNvPr>
          <p:cNvSpPr>
            <a:spLocks noGrp="1"/>
          </p:cNvSpPr>
          <p:nvPr/>
        </p:nvSpPr>
        <p:spPr>
          <a:xfrm>
            <a:off x="1143000" y="520065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Track retention, willingness to pay, symptom-management confidence, and doctor-export usage.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1828E7-DA2F-4038-ACA1-CE5F51CB2F7C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Selected sources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02053-F454-4B87-8883-7E03656765A2}"/>
              </a:ext>
            </a:extLst>
          </p:cNvPr>
          <p:cNvSpPr>
            <a:spLocks noGrp="1"/>
          </p:cNvSpPr>
          <p:nvPr/>
        </p:nvSpPr>
        <p:spPr>
          <a:xfrm>
            <a:off x="2476500" y="57150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AboutIBS/IFFGD; NIH/PMC epidemiology review; Grand View Research; Persistence Market Research; PMC IBS-D economic burden; FDA 510(k) K211372; Nerva, Cara Care and app-store listings.</a:t>
            </a:r>
          </a:p>
        </p:txBody>
      </p:sp>
    </p:spTree>
    <p:extLst>
      <p:ext uri="{BB962C8B-B14F-4D97-AF65-F5344CB8AC3E}">
        <p14:creationId xmlns:p14="http://schemas.microsoft.com/office/powerpoint/2010/main" val="2257700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DocSecurity>0</DocSecurity>
  <PresentationFormat>Widescreen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Shuvam Subedi</cp:lastModifiedBy>
  <cp:revision>1</cp:revision>
  <dcterms:created xsi:type="dcterms:W3CDTF">2026-07-08T10:51:07Z</dcterms:created>
  <dcterms:modified xsi:type="dcterms:W3CDTF">2026-07-08T10:53:58Z</dcterms:modified>
</cp:coreProperties>
</file>